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AccessBridge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9847" y="2651760"/>
            <a:ext cx="4572000" cy="3657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803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Ambient Accessibility Operating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090A8"/>
                </a:solidFill>
                <a:latin typeface="Calibri"/>
              </a:rPr>
              <a:t>Zero disclosure  |  AI-powered  |  Cross-application  |  Privacy-first</a:t>
            </a:r>
          </a:p>
          <a:p>
            <a:pPr algn="ctr">
              <a:spcBef>
                <a:spcPts val="1400"/>
              </a:spcBef>
            </a:pPr>
            <a:r>
              <a:rPr sz="1600" b="0" i="0">
                <a:solidFill>
                  <a:srgbClr val="D8D8E8"/>
                </a:solidFill>
                <a:latin typeface="Calibri"/>
              </a:rPr>
              <a:t>Wipro TopGear Ideathon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25+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Voice Cmds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Unit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3-Tier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AI Engine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937760"/>
            <a:ext cx="1554480" cy="82296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5010912"/>
            <a:ext cx="137160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5349240"/>
            <a:ext cx="1371600" cy="370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Server Deps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Why current accessibility tools fail 3.8 billion people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1.3B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People with Disabilities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42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2.5B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Aging Population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11880"/>
            <a:ext cx="23774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85032"/>
            <a:ext cx="2194560" cy="5532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2194560" cy="4526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Abandon Inaccessible Sites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325880"/>
            <a:ext cx="822960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Current tools require users to disclose their disability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Solutions are app-specific — no universal coverage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Static tools don't adapt to individual needs or context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Stigma prevents adoption: users avoid 'accessibility settings'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0" i="0">
                <a:solidFill>
                  <a:srgbClr val="D8D8E8"/>
                </a:solidFill>
                <a:latin typeface="Calibri"/>
              </a:rPr>
              <a:t>Enterprise apps (banking, insurance) worst offenders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▸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Cost of inaccessibility: $6.9B/yr in lost revenue (US alone)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AccessBridge: invisible, adaptive, universal accessibility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1396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Zero Disclosure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No settings page, no self-identification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Silently observes interaction patterns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Adapts without user ever knowing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Removes stigma barrier completely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21396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Universal Coverage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Works on ANY website automatically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Gmail, Outlook, banking, insurance, etc.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extension = zero integration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Enterprise-ready from day 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22860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21396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21214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AI-Adaptive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Real-time behavioral signal analysis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3-tier AI: local → Gemini →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Learns user patterns over time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All processing on-device (privacy-first)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090A8"/>
                </a:solidFill>
                <a:latin typeface="Calibri"/>
              </a:rPr>
              <a:t>Traditional: User configures → Tool applies  |  AccessBridge: Tool observes → Auto-adapts → User 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Monorepo: 3 packages, event-driven pipeline, encrypted local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6824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@accessbridge/core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TypeScript types &amp; interfaces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ProfileStore (encrypted IndexedDB)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StruggleDetector (10 signal types)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DecisionEngine (11 adaptive rules)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Zero external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16824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@accessbridge/extension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Manifest V3 extension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React popup (5 tabs, live polling)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Content scripts (all-site injection)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Side panel dashboard (real-time)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Background service worker (AI host)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16824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@accessbridge/ai-engine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3-tier: local → Gemini →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caching + deduplication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 tracker with daily budgets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Summarizer + Simplifier services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Sub-100ms local tier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68EE"/>
                </a:solidFill>
                <a:latin typeface="Calibri"/>
              </a:rPr>
              <a:t>Signal Pipeline:  User Interaction → Signal Collection → StruggleDetector → DecisionEngine → Auto-Adaptation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Build: Vite + TypeScript strict, output 132KB content + 28KB background + 19KB sidepanel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Storage: Encrypted IndexedDB profiles, chrome.storage.local for state, zero network for a11y data</a:t>
            </a:r>
          </a:p>
          <a:p>
            <a:pPr>
              <a:lnSpc>
                <a:spcPct val="110000"/>
              </a:lnSpc>
              <a:spcBef>
                <a:spcPts val="100"/>
              </a:spcBef>
              <a:spcAft>
                <a:spcPts val="300"/>
              </a:spcAft>
            </a:pPr>
            <a:r>
              <a:rPr sz="1100" b="1" i="0">
                <a:solidFill>
                  <a:srgbClr val="7B68EE"/>
                </a:solidFill>
                <a:latin typeface="Calibri"/>
              </a:rPr>
              <a:t>▪ </a:t>
            </a:r>
            <a:r>
              <a:rPr sz="1100" b="0" i="0">
                <a:solidFill>
                  <a:srgbClr val="D8D8E8"/>
                </a:solidFill>
                <a:latin typeface="Calibri"/>
              </a:rPr>
              <a:t>Deployment: pnpm workspaces, VPS Docker (API:8100, Observatory:8200, Nginx:8300)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Innovation: Struggle Detection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10 behavioral signals → real-time struggle score → automatic 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Typing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WPM drops &amp; rhythm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Mouse Jitter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Cursor instability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Scroll Velocity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Rapid/erratic scroll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Error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Misclicks &amp; typos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37160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44475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Hesitation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182880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Long pauses on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Backspace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Frequent corrections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Zoom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Font size struggles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Voice Strain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STT confidence drop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Gaze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Eye tracking drift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242316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49631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BB86FC"/>
                </a:solidFill>
                <a:latin typeface="Calibri"/>
              </a:rPr>
              <a:t>Fatigue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88036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Session degradation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530352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685032"/>
            <a:ext cx="36576" cy="13167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3703320"/>
            <a:ext cx="502920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Decision Engine (11 Rules)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Each rule maps signal patterns to specific adaptations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Confidence scoring prevents false positives (threshold: 0.6)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Profile-aware: adapts differently per disability type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Baseline learning: adjusts to individual interaction norms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Reversible: all adaptations can be undone instantly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3611880"/>
            <a:ext cx="530352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3685032"/>
            <a:ext cx="36576" cy="13167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1" y="3703320"/>
            <a:ext cx="502920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Struggle Score (0-100)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0-30: Normal interaction → no intervention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30-50: Mild struggle → subtle assists (larger targets)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50-70: Moderate → active help (simplify, voice, focus)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70-90: High → aggressive adaptation (reflow, summarize)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90-100: Critical → maximum assist (essential content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Cognitive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Focus, comprehension, and information overload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5760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5453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38328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Focus Mode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Spotlight follows cursor, periphery dims to 30%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Removes sidebar ads, popups, notifications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Auto-triggers on rapid tab switching or scroll jitter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36576" cy="1545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38328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Distraction Shield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Hides animations, auto-play videos, marquees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Reduces visual noise by 60-80%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Configurable strictness levels (mild/strong)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108960" cy="16916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444752"/>
            <a:ext cx="36576" cy="154533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463040"/>
            <a:ext cx="2834640" cy="1527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Reading Guide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Ruler line tracks reading position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Adjustable width, color, opacity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Keyboard-driven (arrow keys)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46120"/>
            <a:ext cx="548640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19272"/>
            <a:ext cx="36576" cy="168249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37560"/>
            <a:ext cx="521208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AI-Powered Summarization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Page summarization: extracts key bullets + reading time + complexity score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Email summarization: Gmail/Outlook toolbar buttons auto-injected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Slide-in summary panel with Read Aloud (Web Speech TTS), Copy, Dismiss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Auto-summarize mode: triggers 2s after page load on complex pages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MutationObserver handles SPA navigation (Gmail, Outlook dynamic loading)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246120"/>
            <a:ext cx="5120640" cy="18288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319272"/>
            <a:ext cx="36576" cy="168249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337560"/>
            <a:ext cx="4846320" cy="16642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Text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Flesch-Kincaid readability targeting (grade level reduction)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Word-level: replaces complex terms with simpler synonyms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Sentence-level: shortens and restructures for clarity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Two modes: mild (gentle rewording) / strong (plain language)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Preserves technical terms in context (banking, medical, legal)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Motor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Voice, gaze, dwell, keyboard, and predictive input for zero-mouse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5760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7739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38328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Voice Commands (25+)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Navigation: scroll up/down, go back/forward, top/bottom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Actions: click [target], type [text], find [text]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Tabs: next/prev tab, close tab, new tab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A11y: zoom in/out, focus mode, read aloud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Hindi: 'neeche scroll karo', 'vapas jao', etc.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Language auto-select from user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36576" cy="17739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63040"/>
            <a:ext cx="320040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Eye Tracking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FaceDetector API (zero deps, native Chrome)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60% head pose + 40% eye offset blend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Smooth gaze cursor with EMA filter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5-point calibration system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Skin-color centroid fallback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Webcam preview + toggle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19202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44752"/>
            <a:ext cx="36576" cy="17739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63040"/>
            <a:ext cx="3017520" cy="17556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Dwell Click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Radial SVG progress indicator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Configurable delay (200-2000ms)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15px movement threshold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Visual pulse on click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Target highlight on hover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Auto-disable on mouse movement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74720"/>
            <a:ext cx="5303520" cy="16459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47872"/>
            <a:ext cx="36576" cy="149961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66160"/>
            <a:ext cx="5029200" cy="14813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Keyboard-Only Mode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Skip links: jump to main, nav, footer with one key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Enhanced focus ring: visible 3px outline on all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Tab order optimizer: auto-adds tabindex to clickable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Shortcuts overlay (press '?'): shows all available hotkeys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Arrow key navigation within groups, Escape to deselect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MutationObserver: handles dynamic content (SPAs, infinite scroll)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74720"/>
            <a:ext cx="5303520" cy="16459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547872"/>
            <a:ext cx="36576" cy="149961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566160"/>
            <a:ext cx="5029200" cy="14813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Predictive Input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Frequency-based word prediction (~500 word dictionary)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Session learning: adapts to current typing patterns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Floating suggestion panel: Alt+1-5 or Tab to accept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Phrase auto-complete: ~50 common phrases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Form field intelligence: detects email/phone/address/name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80ms debounced, contenteditable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Sensory Adaptation &amp; Fatigue-Adaptive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Visual accessibility + progressive UI simplification based on session degradation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1031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195681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029200" cy="19385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Sensory Adaptation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High contrast: 4 themes (dark, light, yellow-on-black, custom)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Font scaling: 50%-300% dynamic range, all DOM elements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Text-to-speech: Web Speech API with rate/pitch/voice controls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Reduced motion: disables CSS animations, transitions, auto-play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Color filters: protanopia, deuteranopia, tritanopia, achromatopsia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Profile-persistent: settings saved to encrypted IndexedDB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303520" cy="21031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44752"/>
            <a:ext cx="36576" cy="195681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463040"/>
            <a:ext cx="5029200" cy="19385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Fatigue-Adaptive UI (4 Levels)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L1 Mild: larger click targets (+20%), simpler navigation labels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L2 Moderate: reduce visible content, increase spacing by 1.5x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L3 High: auto-summarize long pages, simplify layout to single-col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L4 Critical: essential content only, break reminders every 15 min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Signals: session duration, time-of-day, declining click accuracy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Smooth transitions between levels, manual override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68EE"/>
                </a:solidFill>
                <a:latin typeface="Calibri"/>
              </a:rPr>
              <a:t>Fatigue Pipeline:  Session Timer + Interaction Decay + Time-of-Day → Fatigue Index (0-100) → Level Selection → Progressive Simplification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Domain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Context-aware connectors for banking, insurance, and extensible to any vertical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926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7797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5029200" cy="2761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Banking Connector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Jargon Decoder: 25 terms (EMI, CIBIL, NEFT, RTGS, etc.)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Form Assistance: auto-validates account numbers, IFSC, PAN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Indian Numbering: displays amounts as Lakh/Crore/Arab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Security Alerts: warns on sensitive actions (transfers, password)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Transaction Simplifier: plain-English descriptions of entries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Auto-detects banking domains (SBI, HDFC, ICICI,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71600"/>
            <a:ext cx="5303520" cy="2926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44752"/>
            <a:ext cx="36576" cy="27797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463040"/>
            <a:ext cx="5029200" cy="2761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Insurance Connector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Policy Simplifier: rewrites jargon-heavy clauses in plain language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Jargon Decoder: 35 terms (premium, deductible, copay, etc.)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Comparison Helper: side-by-side policy feature comparison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Claim Form Assistant: step-by-step guidance with validation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Premium Calculator: explains premium breakdown components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Auto-detects insurance domains and activates connector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10972800" cy="6400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53712"/>
            <a:ext cx="36576" cy="49377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572000"/>
            <a:ext cx="10698480" cy="4754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Extensible Architecture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DomainConnectorRegistry auto-detects domain from URL → activates matching connector → injects domain-specific UI + helpers. Add new connectors in &lt;50 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Engine: 3-Tier Cost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Smart routing: free local processing first, cloud only when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44752"/>
            <a:ext cx="36576" cy="241401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Tier 1: Local (Free)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Extractive summarization (TF-IDF)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Rule-based word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Regex classification + heuristics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&lt;100ms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$0.00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~80% of all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44752"/>
            <a:ext cx="36576" cy="2414015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1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Tier 2: Gemini Flash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Abstractive summarization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Complex text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Context-aware classification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500-2000ms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~$0.001/request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~15% of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474720" cy="256032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44752"/>
            <a:ext cx="36576" cy="2414015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463040"/>
            <a:ext cx="3200400" cy="239572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BB86FC"/>
                </a:solidFill>
                <a:latin typeface="Calibri"/>
              </a:rPr>
              <a:t>Tier 3: Claude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Advanced reasoning tasks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Multi-step simplification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Nuanced accessibility analysis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Response time: 1-5s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Cost: ~$0.01/request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Handles ~5% of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48640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87952"/>
            <a:ext cx="36576" cy="8595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06240"/>
            <a:ext cx="521208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Caching &amp; Deduplication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SHA-256 key hashing, configurable TTL, hit/miss rate tracking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Request dedup: identical in-flight requests share one API call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120640" cy="10058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4187952"/>
            <a:ext cx="36576" cy="8595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206240"/>
            <a:ext cx="4846320" cy="8412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F59E0B"/>
                </a:solidFill>
                <a:latin typeface="Calibri"/>
              </a:rPr>
              <a:t>Cost Tracking &amp; Budgets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Per-tier cost estimation, daily budget enforcement ($1/day default)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Graceful degradation: falls back to lower tier when budget exhausted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Testing, Quality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116 tests, zero errors, strict TypeScript, automated deployment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Tests Passing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Test Suites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TS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Build Warnings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371600"/>
            <a:ext cx="201168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444752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82880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Core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468880"/>
            <a:ext cx="548640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542032"/>
            <a:ext cx="36576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2560320"/>
            <a:ext cx="521208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Test Coverage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StruggleDetector: 16 tests (signal processing, baseline, scoring)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DecisionEngine: 21 tests (rules, confidence, revert, profiles)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ProfileStore: 25 tests (CRUD, encryption, migration, edge cases)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AI Engine: 54 tests (cache, normalizer, cost-tracker, local-provider)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68880"/>
            <a:ext cx="5120640" cy="146304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542032"/>
            <a:ext cx="36576" cy="131673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2560320"/>
            <a:ext cx="4846320" cy="12984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Tech Stack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Chrome Extension (Manifest V3) + React + TypeScript + Vite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pnpm monorepo: @accessbridge/core + extension + ai-engine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IndexedDB (encrypted), chrome.storage.local, Web Speech API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FaceDetector API, vitest, Docker (VPS), Nginx reverse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68EE"/>
                </a:solidFill>
                <a:latin typeface="Calibri"/>
              </a:rPr>
              <a:t>CI/CD:  pnpm build → tsc --noEmit → vitest run → git push → SSH deploy → docker-compose 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Impact &amp;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9090A8"/>
                </a:solidFill>
                <a:latin typeface="Calibri"/>
              </a:rPr>
              <a:t>Serving 3.8 billion people who are currently underserved or excluded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3.8B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$6.9B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Lost Revenue/yr (US)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"/>
              </a:rPr>
              <a:t>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Abandon Inaccessible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371600"/>
            <a:ext cx="2560320" cy="10972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444752"/>
            <a:ext cx="2377439" cy="603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  <a:latin typeface="Calibri"/>
              </a:rPr>
              <a:t>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20240"/>
            <a:ext cx="237743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Top Sites Fail WCAG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697480"/>
            <a:ext cx="5486400" cy="24688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70632"/>
            <a:ext cx="36576" cy="2322576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788920"/>
            <a:ext cx="5212080" cy="23042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7B68EE"/>
                </a:solidFill>
                <a:latin typeface="Calibri"/>
              </a:rPr>
              <a:t>Why AccessBridge Wins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Zero disclosure: removes the #1 adoption barrier (stigma)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Universal: no per-app integration, works everywhere instantly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Privacy-first: all behavioral data stays on-device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AI-adaptive: learns and improves, not static rules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Cost-optimized: 80% of AI requests are free (local tier)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Enterprise-ready: banking + insurance connectors built-in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97480"/>
            <a:ext cx="5120640" cy="246888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770632"/>
            <a:ext cx="36576" cy="2322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2788920"/>
            <a:ext cx="4846320" cy="230428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300" b="1" i="0">
                <a:solidFill>
                  <a:srgbClr val="10B981"/>
                </a:solidFill>
                <a:latin typeface="Calibri"/>
              </a:rPr>
              <a:t>Business Model &amp; Growth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B2C: Free Chrome extension, premium AI features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B2B: Enterprise licensing for WCAG/ADA compliance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TAM: 1.3B disabled + 2.5B aging + enterprise orgs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Regulatory tailwinds: ADA, EAA, WCAG 2.2 mandates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Network effect: user profiles improve AI accuracy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1100" b="0" i="0">
                <a:solidFill>
                  <a:srgbClr val="D8D8E8"/>
                </a:solidFill>
                <a:latin typeface="Calibri"/>
              </a:rPr>
              <a:t>Expansion: Firefox, Edge, mobile, native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 Demo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749808"/>
            <a:ext cx="1645920" cy="32004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Chrome Extension Demo Available</a:t>
            </a:r>
          </a:p>
          <a:p>
            <a:pPr algn="ctr">
              <a:spcBef>
                <a:spcPts val="1000"/>
              </a:spcBef>
            </a:pPr>
            <a:r>
              <a:rPr sz="1400" b="0" i="0">
                <a:solidFill>
                  <a:srgbClr val="9090A8"/>
                </a:solidFill>
                <a:latin typeface="Calibri"/>
              </a:rPr>
              <a:t>Load packages/extension/dist/ in chrome://extensions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Struggle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Live score 0-100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Voice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25+ English + Hindi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Focus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Spotlight + shield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Eye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Webcam gaze cursor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560320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633472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7B68EE"/>
                </a:solidFill>
                <a:latin typeface="Calibri"/>
              </a:rPr>
              <a:t>Dwell Click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3017520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Radial auto-click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AI Summarize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Email &amp; page bullets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Keyboard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Full keyboard nav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Predictive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Smart suggestions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Domain Connectors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Banking + Insurance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3611879"/>
            <a:ext cx="2057400" cy="914400"/>
          </a:xfrm>
          <a:prstGeom prst="round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3685031"/>
            <a:ext cx="1874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"/>
              </a:rPr>
              <a:t>Fatigue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4069079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9090A8"/>
                </a:solidFill>
                <a:latin typeface="Calibri"/>
              </a:rPr>
              <a:t>4-level simplification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80060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B68EE"/>
                </a:solidFill>
                <a:latin typeface="Calibri"/>
              </a:rPr>
              <a:t>GitHub: github.com/manishjnv/AccessBridge</a:t>
            </a:r>
          </a:p>
          <a:p>
            <a:pPr algn="ctr">
              <a:spcBef>
                <a:spcPts val="1200"/>
              </a:spcBef>
            </a:pPr>
            <a:r>
              <a:rPr sz="1300" b="0" i="0">
                <a:solidFill>
                  <a:srgbClr val="D8D8E8"/>
                </a:solidFill>
                <a:latin typeface="Calibri"/>
              </a:rPr>
              <a:t>Team AccessBridge  |  Wipro TopGear Ideathon 2026</a:t>
            </a:r>
          </a:p>
          <a:p>
            <a:pPr algn="ctr">
              <a:spcBef>
                <a:spcPts val="1600"/>
              </a:spcBef>
            </a:pPr>
            <a:r>
              <a:rPr sz="2800" b="1" i="0">
                <a:solidFill>
                  <a:srgbClr val="BB86FC"/>
                </a:solidFill>
                <a:latin typeface="Calibri"/>
              </a:rPr>
              <a:t>Thank You!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60175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9090A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