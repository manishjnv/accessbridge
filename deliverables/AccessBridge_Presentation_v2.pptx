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1280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AccessBridge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3809847" y="2651760"/>
            <a:ext cx="4572000" cy="36576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880360"/>
            <a:ext cx="9445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B86FC"/>
                </a:solidFill>
                <a:latin typeface="Calibri"/>
              </a:rPr>
              <a:t>Ambient Accessibility Operating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520440"/>
            <a:ext cx="8531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090A8"/>
                </a:solidFill>
                <a:latin typeface="Calibri"/>
              </a:rPr>
              <a:t>Zero disclosure  |  AI-powered  |  Cross-application  |  Privacy-first</a:t>
            </a:r>
          </a:p>
          <a:p>
            <a:pPr algn="ctr">
              <a:spcBef>
                <a:spcPts val="1400"/>
              </a:spcBef>
            </a:pPr>
            <a:r>
              <a:rPr sz="1600" b="0" i="0">
                <a:solidFill>
                  <a:srgbClr val="D8D8E8"/>
                </a:solidFill>
                <a:latin typeface="Calibri"/>
              </a:rPr>
              <a:t>Wipro TopGear Ideathon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45920" y="4937760"/>
            <a:ext cx="1554480" cy="82296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5010912"/>
            <a:ext cx="1371600" cy="4526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7B68EE"/>
                </a:solidFill>
                <a:latin typeface="Calibri"/>
              </a:rPr>
              <a:t>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5349240"/>
            <a:ext cx="1371600" cy="370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4937760"/>
            <a:ext cx="1554480" cy="82296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5010912"/>
            <a:ext cx="1371600" cy="4526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7B68EE"/>
                </a:solidFill>
                <a:latin typeface="Calibri"/>
              </a:rPr>
              <a:t>45+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5349240"/>
            <a:ext cx="1371600" cy="370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Voice Cmds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4937760"/>
            <a:ext cx="1554480" cy="82296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5010912"/>
            <a:ext cx="1371600" cy="4526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7B68EE"/>
                </a:solidFill>
                <a:latin typeface="Calibri"/>
              </a:rPr>
              <a:t>544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5349240"/>
            <a:ext cx="1371600" cy="370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Unit Tests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95160" y="4937760"/>
            <a:ext cx="1554480" cy="82296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6600" y="5010912"/>
            <a:ext cx="1371600" cy="4526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7B68EE"/>
                </a:solidFill>
                <a:latin typeface="Calibri"/>
              </a:rPr>
              <a:t>3-Tier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5349240"/>
            <a:ext cx="1371600" cy="370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AI Engine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4937760"/>
            <a:ext cx="1554480" cy="82296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5010912"/>
            <a:ext cx="1371600" cy="4526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7B68EE"/>
                </a:solidFill>
                <a:latin typeface="Calibr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5349240"/>
            <a:ext cx="1371600" cy="370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Server Deps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60175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090A8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49808"/>
            <a:ext cx="1645920" cy="32004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9090A8"/>
                </a:solidFill>
                <a:latin typeface="Calibri"/>
              </a:rPr>
              <a:t>Why current accessibility tools fail 3.8 billion people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2377440" cy="100584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99032"/>
            <a:ext cx="2194560" cy="5532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EF4444"/>
                </a:solidFill>
                <a:latin typeface="Calibri"/>
              </a:rPr>
              <a:t>1.3B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2194560" cy="4526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People with Disabilities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68880"/>
            <a:ext cx="2377440" cy="100584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42032"/>
            <a:ext cx="2194560" cy="5532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F59E0B"/>
                </a:solidFill>
                <a:latin typeface="Calibri"/>
              </a:rPr>
              <a:t>2.5B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71800"/>
            <a:ext cx="2194560" cy="4526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Aging Population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611880"/>
            <a:ext cx="2377440" cy="100584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685032"/>
            <a:ext cx="2194560" cy="5532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EF4444"/>
                </a:solidFill>
                <a:latin typeface="Calibri"/>
              </a:rPr>
              <a:t>71%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14800"/>
            <a:ext cx="2194560" cy="4526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Abandon Inaccessible Sites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1325880"/>
            <a:ext cx="8229600" cy="34747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0000"/>
              </a:lnSpc>
              <a:spcBef>
                <a:spcPts val="100"/>
              </a:spcBef>
              <a:spcAft>
                <a:spcPts val="300"/>
              </a:spcAft>
            </a:pPr>
            <a:r>
              <a:rPr sz="1300" b="1" i="0">
                <a:solidFill>
                  <a:srgbClr val="7B68EE"/>
                </a:solidFill>
                <a:latin typeface="Calibri"/>
              </a:rPr>
              <a:t>▸ </a:t>
            </a:r>
            <a:r>
              <a:rPr sz="1300" b="0" i="0">
                <a:solidFill>
                  <a:srgbClr val="D8D8E8"/>
                </a:solidFill>
                <a:latin typeface="Calibri"/>
              </a:rPr>
              <a:t>Current tools require users to disclose their disability</a:t>
            </a:r>
          </a:p>
          <a:p>
            <a:pPr>
              <a:lnSpc>
                <a:spcPct val="110000"/>
              </a:lnSpc>
              <a:spcBef>
                <a:spcPts val="100"/>
              </a:spcBef>
              <a:spcAft>
                <a:spcPts val="300"/>
              </a:spcAft>
            </a:pPr>
            <a:r>
              <a:rPr sz="1300" b="1" i="0">
                <a:solidFill>
                  <a:srgbClr val="7B68EE"/>
                </a:solidFill>
                <a:latin typeface="Calibri"/>
              </a:rPr>
              <a:t>▸ </a:t>
            </a:r>
            <a:r>
              <a:rPr sz="1300" b="0" i="0">
                <a:solidFill>
                  <a:srgbClr val="D8D8E8"/>
                </a:solidFill>
                <a:latin typeface="Calibri"/>
              </a:rPr>
              <a:t>Solutions are app-specific — no universal coverage</a:t>
            </a:r>
          </a:p>
          <a:p>
            <a:pPr>
              <a:lnSpc>
                <a:spcPct val="110000"/>
              </a:lnSpc>
              <a:spcBef>
                <a:spcPts val="100"/>
              </a:spcBef>
              <a:spcAft>
                <a:spcPts val="300"/>
              </a:spcAft>
            </a:pPr>
            <a:r>
              <a:rPr sz="1300" b="1" i="0">
                <a:solidFill>
                  <a:srgbClr val="7B68EE"/>
                </a:solidFill>
                <a:latin typeface="Calibri"/>
              </a:rPr>
              <a:t>▸ </a:t>
            </a:r>
            <a:r>
              <a:rPr sz="1300" b="0" i="0">
                <a:solidFill>
                  <a:srgbClr val="D8D8E8"/>
                </a:solidFill>
                <a:latin typeface="Calibri"/>
              </a:rPr>
              <a:t>Static tools don't adapt to individual needs or context</a:t>
            </a:r>
          </a:p>
          <a:p>
            <a:pPr>
              <a:lnSpc>
                <a:spcPct val="110000"/>
              </a:lnSpc>
              <a:spcBef>
                <a:spcPts val="100"/>
              </a:spcBef>
              <a:spcAft>
                <a:spcPts val="300"/>
              </a:spcAft>
            </a:pPr>
            <a:r>
              <a:rPr sz="1300" b="1" i="0">
                <a:solidFill>
                  <a:srgbClr val="7B68EE"/>
                </a:solidFill>
                <a:latin typeface="Calibri"/>
              </a:rPr>
              <a:t>▸ </a:t>
            </a:r>
            <a:r>
              <a:rPr sz="1300" b="0" i="0">
                <a:solidFill>
                  <a:srgbClr val="D8D8E8"/>
                </a:solidFill>
                <a:latin typeface="Calibri"/>
              </a:rPr>
              <a:t>Stigma prevents adoption: users avoid 'accessibility settings'</a:t>
            </a:r>
          </a:p>
          <a:p>
            <a:pPr>
              <a:lnSpc>
                <a:spcPct val="110000"/>
              </a:lnSpc>
              <a:spcBef>
                <a:spcPts val="100"/>
              </a:spcBef>
              <a:spcAft>
                <a:spcPts val="300"/>
              </a:spcAft>
            </a:pPr>
            <a:r>
              <a:rPr sz="1300" b="1" i="0">
                <a:solidFill>
                  <a:srgbClr val="7B68EE"/>
                </a:solidFill>
                <a:latin typeface="Calibri"/>
              </a:rPr>
              <a:t>▸ </a:t>
            </a:r>
            <a:r>
              <a:rPr sz="1300" b="0" i="0">
                <a:solidFill>
                  <a:srgbClr val="D8D8E8"/>
                </a:solidFill>
                <a:latin typeface="Calibri"/>
              </a:rPr>
              <a:t>Enterprise apps (banking, insurance) worst offenders</a:t>
            </a:r>
          </a:p>
          <a:p>
            <a:pPr>
              <a:lnSpc>
                <a:spcPct val="110000"/>
              </a:lnSpc>
              <a:spcBef>
                <a:spcPts val="100"/>
              </a:spcBef>
              <a:spcAft>
                <a:spcPts val="300"/>
              </a:spcAft>
            </a:pPr>
            <a:r>
              <a:rPr sz="1300" b="1" i="0">
                <a:solidFill>
                  <a:srgbClr val="7B68EE"/>
                </a:solidFill>
                <a:latin typeface="Calibri"/>
              </a:rPr>
              <a:t>▸ </a:t>
            </a:r>
            <a:r>
              <a:rPr sz="1300" b="1" i="0">
                <a:solidFill>
                  <a:srgbClr val="FFFFFF"/>
                </a:solidFill>
                <a:latin typeface="Calibri"/>
              </a:rPr>
              <a:t>Cost of inaccessibility: $6.9B/yr in lost revenue (US alone)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60175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090A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Our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49808"/>
            <a:ext cx="1645920" cy="32004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9090A8"/>
                </a:solidFill>
                <a:latin typeface="Calibri"/>
              </a:rPr>
              <a:t>AccessBridge: invisible, adaptive, universal accessibility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474720" cy="22860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44752"/>
            <a:ext cx="36576" cy="2139696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463040"/>
            <a:ext cx="3200400" cy="21214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7B68EE"/>
                </a:solidFill>
                <a:latin typeface="Calibri"/>
              </a:rPr>
              <a:t>Zero Disclosure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No settings page, no self-identification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Silently observes interaction patterns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Adapts without user ever knowing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Removes stigma barrier completely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371600"/>
            <a:ext cx="3474720" cy="22860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444752"/>
            <a:ext cx="36576" cy="21396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0831" y="1463040"/>
            <a:ext cx="3200400" cy="21214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10B981"/>
                </a:solidFill>
                <a:latin typeface="Calibri"/>
              </a:rPr>
              <a:t>Universal Coverage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Works on ANY website automatically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Gmail, Outlook, banking, insurance, etc.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Chrome extension = zero integration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Enterprise-ready from day 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1371600"/>
            <a:ext cx="3474720" cy="22860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1444752"/>
            <a:ext cx="36576" cy="2139696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1" y="1463040"/>
            <a:ext cx="3200400" cy="21214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BB86FC"/>
                </a:solidFill>
                <a:latin typeface="Calibri"/>
              </a:rPr>
              <a:t>AI-Adaptive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Real-time behavioral signal analysis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3-tier AI: local → Gemini → Claude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Learns user patterns over time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All processing on-device (privacy-first)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886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090A8"/>
                </a:solidFill>
                <a:latin typeface="Calibri"/>
              </a:rPr>
              <a:t>Traditional: User configures → Tool applies  |  AccessBridge: Tool observes → Auto-adapts → User benefits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60175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090A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49808"/>
            <a:ext cx="1645920" cy="32004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9090A8"/>
                </a:solidFill>
                <a:latin typeface="Calibri"/>
              </a:rPr>
              <a:t>Monorepo: 3 packages, event-driven pipeline, encrypted local storage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474720" cy="18288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44752"/>
            <a:ext cx="36576" cy="1682496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463040"/>
            <a:ext cx="3200400" cy="16642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7B68EE"/>
                </a:solidFill>
                <a:latin typeface="Calibri"/>
              </a:rPr>
              <a:t>@accessbridge/core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TypeScript types &amp; interfaces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ProfileStore (encrypted IndexedDB)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StruggleDetector (10 signal types)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DecisionEngine (11 adaptive rules)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Zero external dependencies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371600"/>
            <a:ext cx="3474720" cy="18288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444752"/>
            <a:ext cx="36576" cy="16824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0831" y="1463040"/>
            <a:ext cx="3200400" cy="16642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10B981"/>
                </a:solidFill>
                <a:latin typeface="Calibri"/>
              </a:rPr>
              <a:t>@accessbridge/extension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Chrome Manifest V3 extension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React popup (5 tabs, live polling)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Content scripts (all-site injection)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Side panel dashboard (real-time)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Background service worker (AI host)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1371600"/>
            <a:ext cx="3474720" cy="18288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1444752"/>
            <a:ext cx="36576" cy="1682496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1" y="1463040"/>
            <a:ext cx="3200400" cy="16642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BB86FC"/>
                </a:solidFill>
                <a:latin typeface="Calibri"/>
              </a:rPr>
              <a:t>@accessbridge/ai-engine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3-tier: local → Gemini → Claude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Response caching + deduplication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Cost tracker with daily budgets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Summarizer + Simplifier services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Sub-100ms local tier 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832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B68EE"/>
                </a:solidFill>
                <a:latin typeface="Calibri"/>
              </a:rPr>
              <a:t>Signal Pipeline:  User Interaction → Signal Collection → StruggleDetector → DecisionEngine → Auto-Adaptation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840480"/>
            <a:ext cx="1097280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0000"/>
              </a:lnSpc>
              <a:spcBef>
                <a:spcPts val="100"/>
              </a:spcBef>
              <a:spcAft>
                <a:spcPts val="300"/>
              </a:spcAft>
            </a:pPr>
            <a:r>
              <a:rPr sz="1100" b="1" i="0">
                <a:solidFill>
                  <a:srgbClr val="7B68EE"/>
                </a:solidFill>
                <a:latin typeface="Calibri"/>
              </a:rPr>
              <a:t>▪ </a:t>
            </a:r>
            <a:r>
              <a:rPr sz="1100" b="0" i="0">
                <a:solidFill>
                  <a:srgbClr val="D8D8E8"/>
                </a:solidFill>
                <a:latin typeface="Calibri"/>
              </a:rPr>
              <a:t>Build: Vite + TypeScript strict. Output: 322 KB content, 36 KB background, 30 KB popup, 414 KB sidepanel</a:t>
            </a:r>
          </a:p>
          <a:p>
            <a:pPr>
              <a:lnSpc>
                <a:spcPct val="110000"/>
              </a:lnSpc>
              <a:spcBef>
                <a:spcPts val="100"/>
              </a:spcBef>
              <a:spcAft>
                <a:spcPts val="300"/>
              </a:spcAft>
            </a:pPr>
            <a:r>
              <a:rPr sz="1100" b="1" i="0">
                <a:solidFill>
                  <a:srgbClr val="7B68EE"/>
                </a:solidFill>
                <a:latin typeface="Calibri"/>
              </a:rPr>
              <a:t>▪ </a:t>
            </a:r>
            <a:r>
              <a:rPr sz="1100" b="0" i="0">
                <a:solidFill>
                  <a:srgbClr val="D8D8E8"/>
                </a:solidFill>
                <a:latin typeface="Calibri"/>
              </a:rPr>
              <a:t>Storage: Encrypted IndexedDB profiles, chrome.storage.local for state, zero network for a11y data</a:t>
            </a:r>
          </a:p>
          <a:p>
            <a:pPr>
              <a:lnSpc>
                <a:spcPct val="110000"/>
              </a:lnSpc>
              <a:spcBef>
                <a:spcPts val="100"/>
              </a:spcBef>
              <a:spcAft>
                <a:spcPts val="300"/>
              </a:spcAft>
            </a:pPr>
            <a:r>
              <a:rPr sz="1100" b="1" i="0">
                <a:solidFill>
                  <a:srgbClr val="7B68EE"/>
                </a:solidFill>
                <a:latin typeface="Calibri"/>
              </a:rPr>
              <a:t>▪ </a:t>
            </a:r>
            <a:r>
              <a:rPr sz="1100" b="0" i="0">
                <a:solidFill>
                  <a:srgbClr val="D8D8E8"/>
                </a:solidFill>
                <a:latin typeface="Calibri"/>
              </a:rPr>
              <a:t>Deployment: pnpm workspaces, VPS Docker (API:8100, Observatory:8200, Nginx:8300)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60175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090A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Key Innovation: Struggle Detection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49808"/>
            <a:ext cx="1645920" cy="32004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9090A8"/>
                </a:solidFill>
                <a:latin typeface="Calibri"/>
              </a:rPr>
              <a:t>10 behavioral signals → real-time struggle score → automatic adaptation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2057400" cy="9144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44752"/>
            <a:ext cx="18745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7B68EE"/>
                </a:solidFill>
                <a:latin typeface="Calibri"/>
              </a:rPr>
              <a:t>Typing Speed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WPM drops &amp; rhythm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1371600"/>
            <a:ext cx="2057400" cy="9144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444752"/>
            <a:ext cx="18745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7B68EE"/>
                </a:solidFill>
                <a:latin typeface="Calibri"/>
              </a:rPr>
              <a:t>Mouse Jitter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1828800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Cursor instability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371600"/>
            <a:ext cx="2057400" cy="9144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1444752"/>
            <a:ext cx="18745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7B68EE"/>
                </a:solidFill>
                <a:latin typeface="Calibri"/>
              </a:rPr>
              <a:t>Scroll Velocity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828800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Rapid/erratic scroll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9480" y="1371600"/>
            <a:ext cx="2057400" cy="9144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20" y="1444752"/>
            <a:ext cx="18745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7B68EE"/>
                </a:solidFill>
                <a:latin typeface="Calibri"/>
              </a:rPr>
              <a:t>Error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1828800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Misclicks &amp; typos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09760" y="1371600"/>
            <a:ext cx="2057400" cy="9144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0" y="1444752"/>
            <a:ext cx="18745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7B68EE"/>
                </a:solidFill>
                <a:latin typeface="Calibri"/>
              </a:rPr>
              <a:t>Hesitation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1828800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Long pauses on UI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423160"/>
            <a:ext cx="2057400" cy="9144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496312"/>
            <a:ext cx="18745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BB86FC"/>
                </a:solidFill>
                <a:latin typeface="Calibri"/>
              </a:rPr>
              <a:t>Backspace Ratio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2880360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Frequent corrections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8920" y="2423160"/>
            <a:ext cx="2057400" cy="9144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80360" y="2496312"/>
            <a:ext cx="18745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BB86FC"/>
                </a:solidFill>
                <a:latin typeface="Calibri"/>
              </a:rPr>
              <a:t>Zoom Changes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360" y="2880360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Font size struggles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0" y="2423160"/>
            <a:ext cx="2057400" cy="9144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0" y="2496312"/>
            <a:ext cx="18745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BB86FC"/>
                </a:solidFill>
                <a:latin typeface="Calibri"/>
              </a:rPr>
              <a:t>Voice Strain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2880360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STT confidence drop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69480" y="2423160"/>
            <a:ext cx="2057400" cy="9144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60920" y="2496312"/>
            <a:ext cx="18745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BB86FC"/>
                </a:solidFill>
                <a:latin typeface="Calibri"/>
              </a:rPr>
              <a:t>Gaze Patterns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20" y="2880360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Eye tracking drift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09760" y="2423160"/>
            <a:ext cx="2057400" cy="9144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0" y="2496312"/>
            <a:ext cx="18745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BB86FC"/>
                </a:solidFill>
                <a:latin typeface="Calibri"/>
              </a:rPr>
              <a:t>Fatigue Index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2880360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Session degradation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3611880"/>
            <a:ext cx="5303520" cy="146304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3685032"/>
            <a:ext cx="36576" cy="1316736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" y="3703320"/>
            <a:ext cx="5029200" cy="12984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7B68EE"/>
                </a:solidFill>
                <a:latin typeface="Calibri"/>
              </a:rPr>
              <a:t>Decision Engine (11 Rules)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Each rule maps signal patterns to specific adaptations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Confidence scoring prevents false positives (threshold: 0.6)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Profile-aware: adapts differently per disability type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Baseline learning: adjusts to individual interaction norms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Reversible: all adaptations can be undone instantly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35040" y="3611880"/>
            <a:ext cx="5303520" cy="146304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3685032"/>
            <a:ext cx="36576" cy="13167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99631" y="3703320"/>
            <a:ext cx="5029200" cy="12984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F59E0B"/>
                </a:solidFill>
                <a:latin typeface="Calibri"/>
              </a:rPr>
              <a:t>Struggle Score (0-100)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0-30: Normal interaction → no intervention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30-50: Mild struggle → subtle assists (larger targets)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50-70: Moderate → active help (simplify, voice, focus)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70-90: High → aggressive adaptation (reflow, summarize)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90-100: Critical → maximum assist (essential content only)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60175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090A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Cognitive Accessibility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49808"/>
            <a:ext cx="1645920" cy="32004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9090A8"/>
                </a:solidFill>
                <a:latin typeface="Calibri"/>
              </a:rPr>
              <a:t>Focus, comprehension, and information overload support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657600" cy="169164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44752"/>
            <a:ext cx="36576" cy="1545336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463040"/>
            <a:ext cx="3383280" cy="1527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7B68EE"/>
                </a:solidFill>
                <a:latin typeface="Calibri"/>
              </a:rPr>
              <a:t>Focus Mode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Spotlight follows cursor, periphery dims to 30%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Removes sidebar ads, popups, notifications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Auto-triggers on rapid tab switching or scroll jitter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657600" cy="169164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444752"/>
            <a:ext cx="36576" cy="15453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463040"/>
            <a:ext cx="3383280" cy="1527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10B981"/>
                </a:solidFill>
                <a:latin typeface="Calibri"/>
              </a:rPr>
              <a:t>Distraction Shield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Hides animations, auto-play videos, marquees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Reduces visual noise by 60-80%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Configurable strictness levels (mild/strong)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371600"/>
            <a:ext cx="3108960" cy="169164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444752"/>
            <a:ext cx="36576" cy="1545336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4192" y="1463040"/>
            <a:ext cx="2834640" cy="1527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BB86FC"/>
                </a:solidFill>
                <a:latin typeface="Calibri"/>
              </a:rPr>
              <a:t>Reading Guide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Ruler line tracks reading position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Adjustable width, color, opacity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Keyboard-driven (arrow keys)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46120"/>
            <a:ext cx="5486400" cy="18288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319272"/>
            <a:ext cx="36576" cy="1682496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337560"/>
            <a:ext cx="5212080" cy="16642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7B68EE"/>
                </a:solidFill>
                <a:latin typeface="Calibri"/>
              </a:rPr>
              <a:t>AI-Powered Summarization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Page summarization: extracts key bullets + reading time + complexity score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Email summarization: Gmail/Outlook toolbar buttons auto-injected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Slide-in summary panel with Read Aloud (Web Speech TTS), Copy, Dismiss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Auto-summarize mode: triggers 2s after page load on complex pages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MutationObserver handles SPA navigation (Gmail, Outlook dynamic loading)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246120"/>
            <a:ext cx="5120640" cy="18288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319272"/>
            <a:ext cx="36576" cy="1682496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3337560"/>
            <a:ext cx="4846320" cy="16642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BB86FC"/>
                </a:solidFill>
                <a:latin typeface="Calibri"/>
              </a:rPr>
              <a:t>Text Simplification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Flesch-Kincaid readability targeting (grade level reduction)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Word-level: replaces complex terms with simpler synonyms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Sentence-level: shortens and restructures for clarity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Two modes: mild (gentle rewording) / strong (plain language)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Preserves technical terms in context (banking, medical, legal)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60175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090A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Motor Accessibility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49808"/>
            <a:ext cx="1645920" cy="32004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9090A8"/>
                </a:solidFill>
                <a:latin typeface="Calibri"/>
              </a:rPr>
              <a:t>Voice, gaze, dwell, keyboard, and predictive input for zero-mouse operation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657600" cy="192024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44752"/>
            <a:ext cx="36576" cy="1773936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463040"/>
            <a:ext cx="3383280" cy="17556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7B68EE"/>
                </a:solidFill>
                <a:latin typeface="Calibri"/>
              </a:rPr>
              <a:t>Voice Commands (45+ EN/Hindi, 22 Indic languages)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Navigation: scroll up/down, go back/forward, top/bottom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Actions: click [target], type [text], find [text]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Tabs: next/prev tab, close tab, new tab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A11y: zoom in/out, focus mode, read aloud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Hindi: 'neeche scroll karo', 'vapas jao', etc.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Language auto-select from user profile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474720" cy="192024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444752"/>
            <a:ext cx="36576" cy="17739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463040"/>
            <a:ext cx="3200400" cy="17556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10B981"/>
                </a:solidFill>
                <a:latin typeface="Calibri"/>
              </a:rPr>
              <a:t>Eye Tracking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FaceDetector API (zero deps, native Chrome)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60% head pose + 40% eye offset blend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Smooth gaze cursor with EMA filter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5-point calibration system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Skin-color centroid fallback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Webcam preview + toggle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291840" cy="192024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444752"/>
            <a:ext cx="36576" cy="17739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463040"/>
            <a:ext cx="3017520" cy="17556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F59E0B"/>
                </a:solidFill>
                <a:latin typeface="Calibri"/>
              </a:rPr>
              <a:t>Dwell Click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Radial SVG progress indicator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Configurable delay (200-2000ms)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15px movement threshold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Visual pulse on click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Target highlight on hover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Auto-disable on mouse movement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74720"/>
            <a:ext cx="5303520" cy="164592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547872"/>
            <a:ext cx="36576" cy="1499616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566160"/>
            <a:ext cx="5029200" cy="14813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BB86FC"/>
                </a:solidFill>
                <a:latin typeface="Calibri"/>
              </a:rPr>
              <a:t>Keyboard-Only Mode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Skip links: jump to main, nav, footer with one key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Enhanced focus ring: visible 3px outline on all elements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Tab order optimizer: auto-adds tabindex to clickable elements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Shortcuts overlay (press '?'): shows all available hotkeys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Arrow key navigation within groups, Escape to deselect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MutationObserver: handles dynamic content (SPAs, infinite scroll)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3474720"/>
            <a:ext cx="5303520" cy="164592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35040" y="3547872"/>
            <a:ext cx="36576" cy="1499616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9631" y="3566160"/>
            <a:ext cx="5029200" cy="14813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7B68EE"/>
                </a:solidFill>
                <a:latin typeface="Calibri"/>
              </a:rPr>
              <a:t>Predictive Input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Frequency-based word prediction (~500 word dictionary)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Session learning: adapts to current typing patterns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Floating suggestion panel: Alt+1-5 or Tab to accept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Phrase auto-complete: ~50 common phrases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Form field intelligence: detects email/phone/address/name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80ms debounced, contenteditable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60175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090A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Sensory Adaptation &amp; Fatigue-Adaptive UI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49808"/>
            <a:ext cx="1645920" cy="32004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9090A8"/>
                </a:solidFill>
                <a:latin typeface="Calibri"/>
              </a:rPr>
              <a:t>Visual accessibility + progressive UI simplification based on session degradation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303520" cy="210312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44752"/>
            <a:ext cx="36576" cy="1956815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463040"/>
            <a:ext cx="5029200" cy="193852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7B68EE"/>
                </a:solidFill>
                <a:latin typeface="Calibri"/>
              </a:rPr>
              <a:t>Sensory Adaptation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High contrast: 4 themes (dark, light, yellow-on-black, custom)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Font scaling: 50%-300% dynamic range, all DOM elements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Text-to-speech: Web Speech API with rate/pitch/voice controls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Reduced motion: disables CSS animations, transitions, auto-play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Color filters: protanopia, deuteranopia, tritanopia, achromatopsia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Profile-persistent: settings saved to encrypted IndexedDB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71600"/>
            <a:ext cx="5303520" cy="210312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0" y="1444752"/>
            <a:ext cx="36576" cy="195681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1" y="1463040"/>
            <a:ext cx="5029200" cy="193852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F59E0B"/>
                </a:solidFill>
                <a:latin typeface="Calibri"/>
              </a:rPr>
              <a:t>Fatigue-Adaptive UI (4 Levels)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L1 Mild: larger click targets (+20%), simpler navigation labels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L2 Moderate: reduce visible content, increase spacing by 1.5x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L3 High: auto-summarize long pages, simplify layout to single-col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L4 Critical: essential content only, break reminders every 15 min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Signals: session duration, time-of-day, declining click accuracy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Smooth transitions between levels, manual override available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57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B68EE"/>
                </a:solidFill>
                <a:latin typeface="Calibri"/>
              </a:rPr>
              <a:t>Fatigue Pipeline:  Session Timer + Interaction Decay + Time-of-Day → Fatigue Index (0-100) → Level Selection → Progressive Simplification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60175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090A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Domain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49808"/>
            <a:ext cx="1645920" cy="32004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9090A8"/>
                </a:solidFill>
                <a:latin typeface="Calibri"/>
              </a:rPr>
              <a:t>Context-aware connectors for banking, insurance, and extensible to any vertical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303520" cy="292608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44752"/>
            <a:ext cx="36576" cy="27797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463040"/>
            <a:ext cx="5029200" cy="276148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10B981"/>
                </a:solidFill>
                <a:latin typeface="Calibri"/>
              </a:rPr>
              <a:t>Banking Connector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Jargon Decoder: 25 terms (EMI, CIBIL, NEFT, RTGS, etc.)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Form Assistance: auto-validates account numbers, IFSC, PAN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Indian Numbering: displays amounts as Lakh/Crore/Arab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Security Alerts: warns on sensitive actions (transfers, password)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Transaction Simplifier: plain-English descriptions of entries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Auto-detects banking domains (SBI, HDFC, ICICI, etc.)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71600"/>
            <a:ext cx="5303520" cy="292608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0" y="1444752"/>
            <a:ext cx="36576" cy="2779776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1" y="1463040"/>
            <a:ext cx="5029200" cy="276148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BB86FC"/>
                </a:solidFill>
                <a:latin typeface="Calibri"/>
              </a:rPr>
              <a:t>Insurance Connector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Policy Simplifier: rewrites jargon-heavy clauses in plain language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Jargon Decoder: 35 terms (premium, deductible, copay, etc.)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Comparison Helper: side-by-side policy feature comparison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Claim Form Assistant: step-by-step guidance with validation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Premium Calculator: explains premium breakdown components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Auto-detects insurance domains and activates connector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480560"/>
            <a:ext cx="10972800" cy="64008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553712"/>
            <a:ext cx="36576" cy="493775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4572000"/>
            <a:ext cx="10698480" cy="47548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7B68EE"/>
                </a:solidFill>
                <a:latin typeface="Calibri"/>
              </a:rPr>
              <a:t>Six Shipping Connectors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Banking · Insurance · Healthcare (drug interactions) · Telecom (bill-shock alerts) · Retail (savings badges) · Manufacturing (hazard keywords). DomainConnectorRegistry routes by hostname; add new connectors in &lt;50 lines.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60175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090A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AI Engine: 3-Tier Cost Optimization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49808"/>
            <a:ext cx="1645920" cy="32004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9090A8"/>
                </a:solidFill>
                <a:latin typeface="Calibri"/>
              </a:rPr>
              <a:t>Smart routing: free local processing first, cloud only when needed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474720" cy="256032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44752"/>
            <a:ext cx="36576" cy="241401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463040"/>
            <a:ext cx="3200400" cy="239572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10B981"/>
                </a:solidFill>
                <a:latin typeface="Calibri"/>
              </a:rPr>
              <a:t>Tier 1: Local (Free)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Extractive summarization (TF-IDF)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Rule-based word simplification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Regex classification + heuristics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Response time: &lt;100ms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Cost: $0.00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Handles ~80% of all requests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371600"/>
            <a:ext cx="3474720" cy="256032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444752"/>
            <a:ext cx="36576" cy="2414015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0831" y="1463040"/>
            <a:ext cx="3200400" cy="239572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7B68EE"/>
                </a:solidFill>
                <a:latin typeface="Calibri"/>
              </a:rPr>
              <a:t>Tier 2: Gemini Flash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Abstractive summarization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Complex text simplification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Context-aware classification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Response time: 500-2000ms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Cost: ~$0.001/request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Handles ~15% of requests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1371600"/>
            <a:ext cx="3474720" cy="256032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1444752"/>
            <a:ext cx="36576" cy="2414015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1" y="1463040"/>
            <a:ext cx="3200400" cy="239572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BB86FC"/>
                </a:solidFill>
                <a:latin typeface="Calibri"/>
              </a:rPr>
              <a:t>Tier 3: Claude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Advanced reasoning tasks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Multi-step simplification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Nuanced accessibility analysis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Response time: 1-5s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Cost: ~$0.01/request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Handles ~5% of requests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14800"/>
            <a:ext cx="5486400" cy="100584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187952"/>
            <a:ext cx="36576" cy="859536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206240"/>
            <a:ext cx="5212080" cy="8412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7B68EE"/>
                </a:solidFill>
                <a:latin typeface="Calibri"/>
              </a:rPr>
              <a:t>Caching &amp; Deduplication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SHA-256 key hashing, configurable TTL, hit/miss rate tracking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Request dedup: identical in-flight requests share one API call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114800"/>
            <a:ext cx="5120640" cy="100584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4187952"/>
            <a:ext cx="36576" cy="8595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4206240"/>
            <a:ext cx="4846320" cy="8412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F59E0B"/>
                </a:solidFill>
                <a:latin typeface="Calibri"/>
              </a:rPr>
              <a:t>Cost Tracking &amp; Budgets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Per-tier cost estimation, daily budget enforcement ($1/day default)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Graceful degradation: falls back to lower tier when budget exhausted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60175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090A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Testing, Quality &amp; Tech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49808"/>
            <a:ext cx="1645920" cy="32004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9090A8"/>
                </a:solidFill>
                <a:latin typeface="Calibri"/>
              </a:rPr>
              <a:t>544 tests, zero errors, strict TypeScript, automated deployment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2011680" cy="9144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44752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  <a:latin typeface="Calibri"/>
              </a:rPr>
              <a:t>544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Tests Passing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371600"/>
            <a:ext cx="2011680" cy="9144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1444752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7B68EE"/>
                </a:solidFill>
                <a:latin typeface="Calibri"/>
              </a:rP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8288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Test Files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60" y="1371600"/>
            <a:ext cx="2011680" cy="9144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444752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7B68EE"/>
                </a:solidFill>
                <a:latin typeface="Calibri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8288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TS Errors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1371600"/>
            <a:ext cx="2011680" cy="9144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1444752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7B68EE"/>
                </a:solidFill>
                <a:latin typeface="Calibri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18288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Build Warnings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1371600"/>
            <a:ext cx="2011680" cy="9144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1444752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  <a:latin typeface="Calibri"/>
              </a:rP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18288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Core Coverage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468880"/>
            <a:ext cx="5486400" cy="146304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2542032"/>
            <a:ext cx="36576" cy="13167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2560320"/>
            <a:ext cx="5212080" cy="12984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10B981"/>
                </a:solidFill>
                <a:latin typeface="Calibri"/>
              </a:rPr>
              <a:t>Test Coverage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Core (382 tests): StruggleDetector 18, DecisionEngine 24, ProfileStore 20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Audit engine + rules: 96 tests · Profile versioning + drift: 24 · Env detect: 38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Gesture recognizer + bindings: 36 · Indic language-ranges: 30 · Transliteration: 49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Language detect: 28 · Shortcut DSL: 19 · AI Engine: 54</a:t>
            </a:r>
          </a:p>
          <a:p>
            <a:r>
              <a:t>Extension (108 tests): captions, observatory publisher, deepenings, indic-commands, env sensor, gestures, time-awareness, action-items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468880"/>
            <a:ext cx="5120640" cy="146304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2542032"/>
            <a:ext cx="36576" cy="1316736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82512" y="2560320"/>
            <a:ext cx="4846320" cy="12984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7B68EE"/>
                </a:solidFill>
                <a:latin typeface="Calibri"/>
              </a:rPr>
              <a:t>Tech Stack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Chrome Extension (Manifest V3) + React + TypeScript + Vite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pnpm monorepo: @accessbridge/core + extension + ai-engine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IndexedDB (encrypted), chrome.storage.local, Web Speech API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FaceDetector API, vitest, Docker (VPS), Nginx reverse proxy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114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B68EE"/>
                </a:solidFill>
                <a:latin typeface="Calibri"/>
              </a:rPr>
              <a:t>CI/CD:  pnpm build → tsc --noEmit → vitest run → git push → SSH deploy → docker-compose 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60175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090A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Impact &amp; Market Opportunity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49808"/>
            <a:ext cx="1645920" cy="32004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9090A8"/>
                </a:solidFill>
                <a:latin typeface="Calibri"/>
              </a:rPr>
              <a:t>Serving 3.8 billion people who are currently underserved or excluded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2560320" cy="109728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44752"/>
            <a:ext cx="2377439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7B68EE"/>
                </a:solidFill>
                <a:latin typeface="Calibri"/>
              </a:rPr>
              <a:t>3.8B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2377439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Total Addressable Market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371600"/>
            <a:ext cx="2560320" cy="109728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44752"/>
            <a:ext cx="2377439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EF4444"/>
                </a:solidFill>
                <a:latin typeface="Calibri"/>
              </a:rPr>
              <a:t>$6.9B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920240"/>
            <a:ext cx="2377439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Lost Revenue/yr (US)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371600"/>
            <a:ext cx="2560320" cy="109728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79" y="1444752"/>
            <a:ext cx="2377439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F59E0B"/>
                </a:solidFill>
                <a:latin typeface="Calibri"/>
              </a:rPr>
              <a:t>71%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79" y="1920240"/>
            <a:ext cx="2377439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Abandon Inaccessible Sites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0" y="1371600"/>
            <a:ext cx="2560320" cy="109728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444752"/>
            <a:ext cx="2377439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EF4444"/>
                </a:solidFill>
                <a:latin typeface="Calibri"/>
              </a:rPr>
              <a:t>98%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1920240"/>
            <a:ext cx="2377439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Top Sites Fail WCAG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697480"/>
            <a:ext cx="5486400" cy="246888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770632"/>
            <a:ext cx="36576" cy="2322576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2788920"/>
            <a:ext cx="5212080" cy="230428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7B68EE"/>
                </a:solidFill>
                <a:latin typeface="Calibri"/>
              </a:rPr>
              <a:t>Why AccessBridge Wins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Zero disclosure: removes the #1 adoption barrier (stigma)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Universal: no per-app integration, works everywhere instantly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Privacy-first: all behavioral data stays on-device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AI-adaptive: learns and improves, not static rules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Cost-optimized: 80% of AI requests are free (local tier)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Enterprise-ready: banking + insurance connectors built-in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697480"/>
            <a:ext cx="5120640" cy="246888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2770632"/>
            <a:ext cx="36576" cy="2322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2" y="2788920"/>
            <a:ext cx="4846320" cy="230428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10B981"/>
                </a:solidFill>
                <a:latin typeface="Calibri"/>
              </a:rPr>
              <a:t>Business Model &amp; Growth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B2C: Free Chrome extension, premium AI features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B2B: Enterprise licensing for WCAG/ADA compliance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TAM: 1.3B disabled + 2.5B aging + enterprise orgs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Regulatory tailwinds: ADA, EAA, WCAG 2.2 mandates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Network effect: user profiles improve AI accuracy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Expansion: Firefox, Edge, mobile, native apps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60175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090A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Live Demo &amp; Contact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49808"/>
            <a:ext cx="1645920" cy="32004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94457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Chrome Extension Demo Available</a:t>
            </a:r>
          </a:p>
          <a:p>
            <a:pPr algn="ctr">
              <a:spcBef>
                <a:spcPts val="1000"/>
              </a:spcBef>
            </a:pPr>
            <a:r>
              <a:rPr sz="1400" b="0" i="0">
                <a:solidFill>
                  <a:srgbClr val="9090A8"/>
                </a:solidFill>
                <a:latin typeface="Calibri"/>
              </a:rPr>
              <a:t>Load packages/extension/dist/ in chrome://extensions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2057400" cy="9144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33472"/>
            <a:ext cx="18745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7B68EE"/>
                </a:solidFill>
                <a:latin typeface="Calibri"/>
              </a:rPr>
              <a:t>Struggle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Live score 0-100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2560320"/>
            <a:ext cx="2057400" cy="9144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2633472"/>
            <a:ext cx="18745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7B68EE"/>
                </a:solidFill>
                <a:latin typeface="Calibri"/>
              </a:rPr>
              <a:t>Voice Commands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3017520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45+ EN + Hindi + 20 Indic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2560320"/>
            <a:ext cx="2057400" cy="9144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2633472"/>
            <a:ext cx="18745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7B68EE"/>
                </a:solidFill>
                <a:latin typeface="Calibri"/>
              </a:rPr>
              <a:t>Focus Mode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017520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Spotlight + shield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2560320"/>
            <a:ext cx="2057400" cy="9144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2633472"/>
            <a:ext cx="18745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7B68EE"/>
                </a:solidFill>
                <a:latin typeface="Calibri"/>
              </a:rPr>
              <a:t>Eye Tracking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3017520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Webcam gaze cursor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92640" y="2560320"/>
            <a:ext cx="2057400" cy="9144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2633472"/>
            <a:ext cx="18745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7B68EE"/>
                </a:solidFill>
                <a:latin typeface="Calibri"/>
              </a:rPr>
              <a:t>Dwell Click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3017520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Radial auto-click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611879"/>
            <a:ext cx="2057400" cy="9144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685031"/>
            <a:ext cx="18745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  <a:latin typeface="Calibri"/>
              </a:rPr>
              <a:t>AI Summarize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069079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Email &amp; page bullets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71800" y="3611879"/>
            <a:ext cx="2057400" cy="9144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63240" y="3685031"/>
            <a:ext cx="18745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  <a:latin typeface="Calibri"/>
              </a:rPr>
              <a:t>Keyboard Mode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63240" y="4069079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Full keyboard nav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12080" y="3611879"/>
            <a:ext cx="2057400" cy="9144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0" y="3685031"/>
            <a:ext cx="18745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  <a:latin typeface="Calibri"/>
              </a:rPr>
              <a:t>Predictive Input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4069079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Smart suggestions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52360" y="3611879"/>
            <a:ext cx="2057400" cy="9144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43800" y="3685031"/>
            <a:ext cx="18745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  <a:latin typeface="Calibri"/>
              </a:rPr>
              <a:t>Domain Connectors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3800" y="4069079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6 verticals (Banking, Insurance, Healthcare, Telecom, Retail, Manufacturing)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92640" y="3611879"/>
            <a:ext cx="2057400" cy="9144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3685031"/>
            <a:ext cx="18745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  <a:latin typeface="Calibri"/>
              </a:rPr>
              <a:t>Fatigue UI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4069079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4-level simplification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4800600"/>
            <a:ext cx="94457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B68EE"/>
                </a:solidFill>
                <a:latin typeface="Calibri"/>
              </a:rPr>
              <a:t>GitHub: github.com/manishjnv/AccessBridge</a:t>
            </a:r>
          </a:p>
          <a:p>
            <a:pPr algn="ctr">
              <a:spcBef>
                <a:spcPts val="1200"/>
              </a:spcBef>
            </a:pPr>
            <a:r>
              <a:rPr sz="1300" b="0" i="0">
                <a:solidFill>
                  <a:srgbClr val="D8D8E8"/>
                </a:solidFill>
                <a:latin typeface="Calibri"/>
              </a:rPr>
              <a:t>Manish Kumar  |  Wipro TopGear Ideathon 2026</a:t>
            </a:r>
          </a:p>
          <a:p>
            <a:pPr algn="ctr">
              <a:spcBef>
                <a:spcPts val="1600"/>
              </a:spcBef>
            </a:pPr>
            <a:r>
              <a:rPr sz="2800" b="1" i="0">
                <a:solidFill>
                  <a:srgbClr val="BB86FC"/>
                </a:solidFill>
                <a:latin typeface="Calibri"/>
              </a:rPr>
              <a:t>Thank You!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60175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090A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BB86FC"/>
                </a:solidFill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94A3B8"/>
                </a:solidFill>
              </a:rPr>
              <a:t>Phase 1 shipped — Phase 2 + 3 unlock B2B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3657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7B68EE"/>
                </a:solidFill>
              </a:rPr>
              <a:t>Phase 1  ·  Shipped in this submission</a:t>
            </a:r>
          </a:p>
          <a:p>
            <a:r>
              <a:rPr sz="1300">
                <a:solidFill>
                  <a:srgbClr val="E2E8F0"/>
                </a:solidFill>
              </a:rPr>
              <a:t>Chrome Manifest V3 extension feature-complete.</a:t>
            </a:r>
          </a:p>
          <a:p>
            <a:r>
              <a:rPr sz="1300">
                <a:solidFill>
                  <a:srgbClr val="E2E8F0"/>
                </a:solidFill>
              </a:rPr>
              <a:t>3 modules × 28 features.</a:t>
            </a:r>
          </a:p>
          <a:p>
            <a:r>
              <a:rPr sz="1300">
                <a:solidFill>
                  <a:srgbClr val="E2E8F0"/>
                </a:solidFill>
              </a:rPr>
              <a:t>6 domain connectors with v1 deepening.</a:t>
            </a:r>
          </a:p>
          <a:p>
            <a:r>
              <a:rPr sz="1300">
                <a:solidFill>
                  <a:srgbClr val="E2E8F0"/>
                </a:solidFill>
              </a:rPr>
              <a:t>22 Indian languages (full Web Speech + DOM vocab).</a:t>
            </a:r>
          </a:p>
          <a:p>
            <a:r>
              <a:rPr sz="1300">
                <a:solidFill>
                  <a:srgbClr val="E2E8F0"/>
                </a:solidFill>
              </a:rPr>
              <a:t>Compliance observatory live with differential privacy + Merkle commits.</a:t>
            </a:r>
          </a:p>
          <a:p>
            <a:r>
              <a:rPr sz="1300">
                <a:solidFill>
                  <a:srgbClr val="E2E8F0"/>
                </a:solidFill>
              </a:rPr>
              <a:t>Single monorepo (@accessbridge/core + ai-engine + extension) ready for reuse.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737360"/>
            <a:ext cx="3657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7B68EE"/>
                </a:solidFill>
              </a:rPr>
              <a:t>Phase 2  ·  Next 12 weeks</a:t>
            </a:r>
          </a:p>
          <a:p>
            <a:r>
              <a:rPr sz="1300">
                <a:solidFill>
                  <a:srgbClr val="E2E8F0"/>
                </a:solidFill>
              </a:rPr>
              <a:t>Desktop companion (Tauri) — overlay on native Word/Teams/VS Code.</a:t>
            </a:r>
          </a:p>
          <a:p>
            <a:r>
              <a:rPr sz="1300">
                <a:solidFill>
                  <a:srgbClr val="E2E8F0"/>
                </a:solidFill>
              </a:rPr>
              <a:t>Profile sync + SSO — settings follow user across devices.</a:t>
            </a:r>
          </a:p>
          <a:p>
            <a:r>
              <a:rPr sz="1300">
                <a:solidFill>
                  <a:srgbClr val="E2E8F0"/>
                </a:solidFill>
              </a:rPr>
              <a:t>On-device ONNX models — Whisper STT + Transformers.js so local tier handles the 20% now escalating to cloud.</a:t>
            </a:r>
          </a:p>
          <a:p>
            <a:r>
              <a:rPr sz="1300">
                <a:solidFill>
                  <a:srgbClr val="E2E8F0"/>
                </a:solidFill>
              </a:rPr>
              <a:t>Android AccessibilityService prototype for native apps.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1737360"/>
            <a:ext cx="3657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7B68EE"/>
                </a:solidFill>
              </a:rPr>
              <a:t>Phase 3  ·  6 months</a:t>
            </a:r>
          </a:p>
          <a:p>
            <a:r>
              <a:rPr sz="1300">
                <a:solidFill>
                  <a:srgbClr val="E2E8F0"/>
                </a:solidFill>
              </a:rPr>
              <a:t>iOS Safari extension + in-app SDK.</a:t>
            </a:r>
          </a:p>
          <a:p>
            <a:r>
              <a:rPr sz="1300">
                <a:solidFill>
                  <a:srgbClr val="E2E8F0"/>
                </a:solidFill>
              </a:rPr>
              <a:t>Enterprise admin console (SCCM/Intune silent install, ROI reporting per app).</a:t>
            </a:r>
          </a:p>
          <a:p>
            <a:r>
              <a:rPr sz="1300">
                <a:solidFill>
                  <a:srgbClr val="E2E8F0"/>
                </a:solidFill>
              </a:rPr>
              <a:t>Public JS/TS SDK + REST API for third-party web app embedding.</a:t>
            </a:r>
          </a:p>
          <a:p>
            <a:r>
              <a:rPr sz="1300">
                <a:solidFill>
                  <a:srgbClr val="E2E8F0"/>
                </a:solidFill>
              </a:rPr>
              <a:t>Community-contributed domain connectors.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94A3B8"/>
                </a:solidFill>
              </a:rPr>
              <a:t>Full roadmap: ROADMAP.md  ·  R1-01 through R4-04 covering desktop, mobile, enterprise, and research moonshots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49224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BB86FC"/>
                </a:solidFill>
              </a:rPr>
              <a:t>Chrome Sideload QA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94A3B8"/>
                </a:solidFill>
              </a:rPr>
              <a:t>Real browser, real sites, honest pass/fail — full report in QA_REPORT.md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BB86FC"/>
                </a:solidFill>
              </a:rPr>
              <a:t>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94A3B8"/>
                </a:solidFill>
              </a:rPr>
              <a:t>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82880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94A3B8"/>
                </a:solidFill>
              </a:rPr>
              <a:t>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30175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94A3B8"/>
                </a:solidFill>
              </a:rPr>
              <a:t>Pass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94A3B8"/>
                </a:solidFill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30175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94A3B8"/>
                </a:solidFill>
              </a:rPr>
              <a:t>Partial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182880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94A3B8"/>
                </a:solidFill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30175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94A3B8"/>
                </a:solidFill>
              </a:rPr>
              <a:t>Fail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E2E8F0"/>
                </a:solidFill>
              </a:rPr>
              <a:t>Popup UI (28) · Content on live sites (20) · Side panel (8) · Background SW (8) · VPS integration (3) · Error recovery (5).</a:t>
            </a:r>
          </a:p>
          <a:p/>
          <a:p>
            <a:r>
              <a:rPr sz="1400">
                <a:solidFill>
                  <a:srgbClr val="E2E8F0"/>
                </a:solidFill>
              </a:rPr>
              <a:t>PASS / PARTIAL / FAIL counts pending the user-driven 30-minute spot check before submission. Decision floor: 544 unit tests + clean build + deferred manual matrix. Full report and recommendation in QA_REPORT.md.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0" y="649224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